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91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486400" cy="54864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498080" y="-548640"/>
            <a:ext cx="3657600" cy="3657600"/>
          </a:xfrm>
          <a:prstGeom prst="ellipse">
            <a:avLst/>
          </a:prstGeom>
          <a:solidFill>
            <a:srgbClr val="00AEEF">
              <a:alpha val="12000"/>
            </a:srgbClr>
          </a:solidFill>
          <a:ln w="12700">
            <a:solidFill>
              <a:srgbClr val="00AEE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52549" y="257175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0AEEF">
              <a:alpha val="20000"/>
            </a:srgbClr>
          </a:solidFill>
          <a:ln w="12700">
            <a:solidFill>
              <a:srgbClr val="00AEE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2549" y="257175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50" dirty="0">
                <a:solidFill>
                  <a:srgbClr val="5CCFF5"/>
                </a:solidFill>
              </a:rPr>
              <a:t>BRANDBOOK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Identidade Visual</a:t>
            </a:r>
            <a:endParaRPr lang="en-US" sz="1400" dirty="0"/>
          </a:p>
        </p:txBody>
      </p:sp>
      <p:pic>
        <p:nvPicPr>
          <p:cNvPr id="18" name="Imagem 1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01D95DCC-CEB6-9F11-F347-ADD25948D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61558"/>
            <a:ext cx="4634115" cy="1144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</a:t>
            </a:r>
            <a:r>
              <a:rPr lang="en-US" sz="2600" b="1" dirty="0" err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você</a:t>
            </a: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encontra aqui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94944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 &amp; Proposito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 do nome e o que a marca representa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94944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" y="2569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tipografia e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94944" y="3502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Paleta de Cores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primárias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secundárias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5156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46904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46904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Tipografia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46904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Fontes, hierarquia e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24028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800600" y="2240280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946904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46904" y="2569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 de Voz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46904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Pruma IA se comunica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42900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800600" y="3429000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946904" y="3502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46904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Aplicacoes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46904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 em diferentes contextos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0AEEF">
              <a:alpha val="10000"/>
            </a:srgbClr>
          </a:solidFill>
          <a:ln w="12700">
            <a:solidFill>
              <a:srgbClr val="00AEE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Conceito &amp; Proposito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origem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nome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2651760"/>
          </a:xfrm>
          <a:prstGeom prst="rect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Pruma vem de prumo — instrumento de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civil que usa um fio com peso para encontrar a linha perfeitamente vertical.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absoluta, do alinhamento que nao engana.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Pruma IA, o significado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somos o canal que leva o recurso certo ate onde ele precisa chegar,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eliminando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desnecessário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abrindo caminhos onde nao existiam.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tem um caminho. Nos construimos o canal certo para cada um.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2103120"/>
            <a:ext cx="2834640" cy="768096"/>
          </a:xfrm>
          <a:prstGeom prst="rect">
            <a:avLst/>
          </a:prstGeom>
          <a:solidFill>
            <a:srgbClr val="162460"/>
          </a:solidFill>
          <a:ln w="12700">
            <a:solidFill>
              <a:srgbClr val="00AEE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0" y="2103120"/>
            <a:ext cx="45720" cy="76809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080760" y="2185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2450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alinhados,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margem para erro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2999232"/>
            <a:ext cx="2834640" cy="768096"/>
          </a:xfrm>
          <a:prstGeom prst="rect">
            <a:avLst/>
          </a:prstGeom>
          <a:solidFill>
            <a:srgbClr val="162460"/>
          </a:solidFill>
          <a:ln w="12700">
            <a:solidFill>
              <a:srgbClr val="00AEE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943600" y="2999232"/>
            <a:ext cx="45720" cy="76809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08076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33467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moldada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segmento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3895344"/>
            <a:ext cx="2834640" cy="768096"/>
          </a:xfrm>
          <a:prstGeom prst="rect">
            <a:avLst/>
          </a:prstGeom>
          <a:solidFill>
            <a:srgbClr val="162460"/>
          </a:solidFill>
          <a:ln w="12700">
            <a:solidFill>
              <a:srgbClr val="00AEE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943600" y="3895344"/>
            <a:ext cx="45720" cy="76809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80760" y="3977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4242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sem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esforco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Logo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Versões</a:t>
            </a: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 logo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749040" cy="2148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3419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Versao escura —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escuros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3749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3419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Versao clara —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7863840" cy="822960"/>
          </a:xfrm>
          <a:prstGeom prst="rect">
            <a:avLst/>
          </a:prstGeom>
          <a:solidFill>
            <a:srgbClr val="E0F6FE"/>
          </a:solidFill>
          <a:ln w="12700">
            <a:solidFill>
              <a:srgbClr val="E0F6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4864" cy="8229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877056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mantenha sempre uma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altura da letra P ao redor da logo em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Nunca posicione outros elementos dentro dessa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àrea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pic>
        <p:nvPicPr>
          <p:cNvPr id="18" name="Imagem 1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4ECDFD24-2E0B-2414-3114-9464B042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06" y="1929326"/>
            <a:ext cx="2932829" cy="724444"/>
          </a:xfrm>
          <a:prstGeom prst="rect">
            <a:avLst/>
          </a:prstGeom>
        </p:spPr>
      </p:pic>
      <p:pic>
        <p:nvPicPr>
          <p:cNvPr id="22" name="Imagem 21" descr="Uma imagem contendo Ícone&#10;&#10;Descrição gerada automaticamente">
            <a:extLst>
              <a:ext uri="{FF2B5EF4-FFF2-40B4-BE49-F238E27FC236}">
                <a16:creationId xmlns:a16="http://schemas.microsoft.com/office/drawing/2014/main" id="{66269BAF-9011-436C-C2BF-785D89333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523" y="1917464"/>
            <a:ext cx="3028873" cy="748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Logo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</a:t>
            </a:r>
            <a:r>
              <a:rPr lang="en-US" sz="2600" b="1" dirty="0" err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</a:t>
            </a: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fazer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389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alterar as cores da logo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13232" y="2633472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13232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distorcer ou esticar as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proporções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13232" y="371246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1323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3547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usar sobre fundos com baixo contraste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919472" y="1554480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1947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1389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adicionar sombras, brilhos ou gradientes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919472" y="2633472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19472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13248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recriar a logo com outras fontes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5643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919472" y="3712464"/>
            <a:ext cx="384048" cy="38404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3547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separar Pruma de IA em contextos visuais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AEEF">
              <a:alpha val="10000"/>
            </a:srgbClr>
          </a:solidFill>
          <a:ln w="12700">
            <a:solidFill>
              <a:srgbClr val="00AEE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Paleta de Cores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Cores da marca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261872" cy="2011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Azul Marinho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6393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#0D1B4B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primaria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1298448"/>
            <a:ext cx="1261872" cy="2011680"/>
          </a:xfrm>
          <a:prstGeom prst="rect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938528" y="33832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Azul Medio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36393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#162460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38528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secundarios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28416" y="1298448"/>
            <a:ext cx="1261872" cy="201168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28416" y="33832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Azul Profundo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28416" y="36393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#1E3080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28416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Gradacoes e detalhes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18304" y="1298448"/>
            <a:ext cx="1261872" cy="20116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18304" y="33832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Ciano Eletrico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8304" y="36393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#00AEEF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18304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de acento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08192" y="1298448"/>
            <a:ext cx="1261872" cy="2011680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08192" y="33832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Ciano Claro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08192" y="36393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#5CCFF5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08192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suaves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1298448"/>
            <a:ext cx="1261872" cy="2011680"/>
          </a:xfrm>
          <a:prstGeom prst="rect">
            <a:avLst/>
          </a:prstGeom>
          <a:solidFill>
            <a:srgbClr val="E0F6FE"/>
          </a:solidFill>
          <a:ln w="12700">
            <a:solidFill>
              <a:srgbClr val="E0F6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498080" y="33832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Ciano Palido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36393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#E0F6FE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98080" y="3840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de destaque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7863840" cy="320040"/>
          </a:xfrm>
          <a:prstGeom prst="rect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uso  —  Azul Marinho 65%    Ciano Eletrico 25%    Neutros 10%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Tipografia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</a:t>
            </a:r>
            <a:r>
              <a:rPr lang="en-US" sz="2600" b="1" dirty="0" err="1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tipográfico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5029200" cy="2697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ALTERNATE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na logo,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headlines.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Geométrica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moderna.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autoridade.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ABCDEFGHIJKLMNOPQRSTUVWXYZ  0123456789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06440" y="1207008"/>
            <a:ext cx="2971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89320" y="1389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17190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89320" y="24871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em corpo de texto, legendas e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corrido. Alta legibilidade.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Dd Ee  123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8229600" cy="804672"/>
          </a:xfrm>
          <a:prstGeom prst="rect">
            <a:avLst/>
          </a:prstGeom>
          <a:solidFill>
            <a:srgbClr val="E0F6FE"/>
          </a:solidFill>
          <a:ln w="12700">
            <a:solidFill>
              <a:srgbClr val="E0F6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54864" cy="8046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13308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 44pt bold  </a:t>
            </a:r>
            <a:r>
              <a:rPr lang="en-US" sz="1100" dirty="0">
                <a:solidFill>
                  <a:srgbClr val="94A3B8"/>
                </a:solidFill>
              </a:rPr>
              <a:t>|  </a:t>
            </a:r>
            <a:r>
              <a:rPr lang="en-US" sz="1100" b="1" dirty="0">
                <a:solidFill>
                  <a:srgbClr val="0D1B4B"/>
                </a:solidFill>
              </a:rPr>
              <a:t>H2 28pt bold  </a:t>
            </a:r>
            <a:r>
              <a:rPr lang="en-US" sz="1100" dirty="0">
                <a:solidFill>
                  <a:srgbClr val="94A3B8"/>
                </a:solidFill>
              </a:rPr>
              <a:t>|  </a:t>
            </a:r>
            <a:r>
              <a:rPr lang="en-US" sz="1100" b="1" dirty="0">
                <a:solidFill>
                  <a:srgbClr val="0D1B4B"/>
                </a:solidFill>
              </a:rPr>
              <a:t>H3 18pt bold  </a:t>
            </a:r>
            <a:r>
              <a:rPr lang="en-US" sz="1100" dirty="0">
                <a:solidFill>
                  <a:srgbClr val="94A3B8"/>
                </a:solidFill>
              </a:rPr>
              <a:t>|  </a:t>
            </a:r>
            <a:r>
              <a:rPr lang="en-US" sz="1100" dirty="0">
                <a:solidFill>
                  <a:srgbClr val="334155"/>
                </a:solidFill>
              </a:rPr>
              <a:t>Body 12pt regular  </a:t>
            </a:r>
            <a:r>
              <a:rPr lang="en-US" sz="1100" dirty="0">
                <a:solidFill>
                  <a:srgbClr val="94A3B8"/>
                </a:solidFill>
              </a:rPr>
              <a:t>|  Caption 9pt muted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Tom de Voz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 Pruma IA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comunica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ao ponto. Sem rodeios,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jargão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desnecessário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Confiante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581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com quem sabe o que faz.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arrogância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937760" y="1993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34086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acessivel. PME e gente,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corporação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37760" y="3410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581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palavra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estar ali. Nada sobra.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7863840" cy="347472"/>
          </a:xfrm>
          <a:prstGeom prst="rect">
            <a:avLst/>
          </a:prstGeom>
          <a:solidFill>
            <a:srgbClr val="E0F6FE"/>
          </a:solidFill>
          <a:ln w="12700">
            <a:solidFill>
              <a:srgbClr val="E0F6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49808" y="464515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"Automatize seu atendimento hoje. Sem </a:t>
            </a:r>
            <a:r>
              <a:rPr lang="en-US" sz="1000" i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complicação</a:t>
            </a:r>
            <a:r>
              <a:rPr lang="en-US" sz="10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contrato longo."  —  exemplo de copy Pruma 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Aplicacoes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 marca aparece</a:t>
            </a:r>
            <a:endParaRPr lang="en-US" sz="2600" dirty="0"/>
          </a:p>
        </p:txBody>
      </p:sp>
      <p:pic>
        <p:nvPicPr>
          <p:cNvPr id="42" name="Imagem 41" descr="Mesa com livros em cima&#10;&#10;Descrição gerada automaticamente com confiança baixa">
            <a:extLst>
              <a:ext uri="{FF2B5EF4-FFF2-40B4-BE49-F238E27FC236}">
                <a16:creationId xmlns:a16="http://schemas.microsoft.com/office/drawing/2014/main" id="{573BA595-15B4-D868-4901-009B8681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635" y="1078992"/>
            <a:ext cx="5428730" cy="3619153"/>
          </a:xfrm>
          <a:prstGeom prst="rect">
            <a:avLst/>
          </a:prstGeom>
        </p:spPr>
      </p:pic>
      <p:pic>
        <p:nvPicPr>
          <p:cNvPr id="43" name="Imagem 42" descr="Uma imagem contendo Ícone&#10;&#10;Descrição gerada automaticamente">
            <a:extLst>
              <a:ext uri="{FF2B5EF4-FFF2-40B4-BE49-F238E27FC236}">
                <a16:creationId xmlns:a16="http://schemas.microsoft.com/office/drawing/2014/main" id="{C8C175BC-9B47-FD49-0ACD-AB4BD1C2B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53143">
            <a:off x="5170895" y="1558596"/>
            <a:ext cx="540723" cy="133565"/>
          </a:xfrm>
          <a:prstGeom prst="rect">
            <a:avLst/>
          </a:prstGeom>
        </p:spPr>
      </p:pic>
      <p:pic>
        <p:nvPicPr>
          <p:cNvPr id="44" name="Imagem 43" descr="Uma imagem contendo Ícone&#10;&#10;Descrição gerada automaticamente">
            <a:extLst>
              <a:ext uri="{FF2B5EF4-FFF2-40B4-BE49-F238E27FC236}">
                <a16:creationId xmlns:a16="http://schemas.microsoft.com/office/drawing/2014/main" id="{566D5A29-7096-2E62-104E-7152B5A53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408" y="3624349"/>
            <a:ext cx="572107" cy="141316"/>
          </a:xfrm>
          <a:prstGeom prst="rect">
            <a:avLst/>
          </a:prstGeom>
        </p:spPr>
      </p:pic>
      <p:pic>
        <p:nvPicPr>
          <p:cNvPr id="45" name="Imagem 4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A6BC32A9-5D4A-5BCF-1D48-3207C467A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57393">
            <a:off x="5728161" y="2030033"/>
            <a:ext cx="570228" cy="140853"/>
          </a:xfrm>
          <a:prstGeom prst="rect">
            <a:avLst/>
          </a:prstGeom>
        </p:spPr>
      </p:pic>
      <p:pic>
        <p:nvPicPr>
          <p:cNvPr id="46" name="Imagem 45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4D96A464-B9DC-8191-EAB9-19297F117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0">
            <a:off x="6677501" y="1861694"/>
            <a:ext cx="212028" cy="52373"/>
          </a:xfrm>
          <a:prstGeom prst="rect">
            <a:avLst/>
          </a:prstGeom>
        </p:spPr>
      </p:pic>
      <p:pic>
        <p:nvPicPr>
          <p:cNvPr id="47" name="Imagem 46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869E7311-C826-00CF-A4AA-6CAA7B61D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0">
            <a:off x="6933516" y="1902865"/>
            <a:ext cx="212028" cy="52373"/>
          </a:xfrm>
          <a:prstGeom prst="rect">
            <a:avLst/>
          </a:prstGeom>
        </p:spPr>
      </p:pic>
      <p:pic>
        <p:nvPicPr>
          <p:cNvPr id="48" name="Imagem 47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A32F6518-13A0-2CA7-FBCE-A25E4E330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786" y="3557602"/>
            <a:ext cx="270218" cy="66747"/>
          </a:xfrm>
          <a:prstGeom prst="rect">
            <a:avLst/>
          </a:prstGeom>
        </p:spPr>
      </p:pic>
      <p:sp>
        <p:nvSpPr>
          <p:cNvPr id="49" name="Retângulo 48">
            <a:extLst>
              <a:ext uri="{FF2B5EF4-FFF2-40B4-BE49-F238E27FC236}">
                <a16:creationId xmlns:a16="http://schemas.microsoft.com/office/drawing/2014/main" id="{BF701182-7F45-2470-2BDD-76AB6C1A31B6}"/>
              </a:ext>
            </a:extLst>
          </p:cNvPr>
          <p:cNvSpPr/>
          <p:nvPr/>
        </p:nvSpPr>
        <p:spPr>
          <a:xfrm>
            <a:off x="4089004" y="1955463"/>
            <a:ext cx="308429" cy="214159"/>
          </a:xfrm>
          <a:prstGeom prst="rect">
            <a:avLst/>
          </a:prstGeom>
          <a:solidFill>
            <a:srgbClr val="F5F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0" name="Imagem 49" descr="Uma imagem contendo Ícone&#10;&#10;Descrição gerada automaticamente">
            <a:extLst>
              <a:ext uri="{FF2B5EF4-FFF2-40B4-BE49-F238E27FC236}">
                <a16:creationId xmlns:a16="http://schemas.microsoft.com/office/drawing/2014/main" id="{C3555658-1CFD-E0E4-7EE4-3D1DF3E7D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401" y="2026629"/>
            <a:ext cx="285634" cy="70555"/>
          </a:xfrm>
          <a:prstGeom prst="rect">
            <a:avLst/>
          </a:prstGeom>
        </p:spPr>
      </p:pic>
      <p:pic>
        <p:nvPicPr>
          <p:cNvPr id="51" name="Imagem 50" descr="Uma imagem contendo Ícone&#10;&#10;Descrição gerada automaticamente">
            <a:extLst>
              <a:ext uri="{FF2B5EF4-FFF2-40B4-BE49-F238E27FC236}">
                <a16:creationId xmlns:a16="http://schemas.microsoft.com/office/drawing/2014/main" id="{03935390-ED37-BB2B-F94B-707B28E38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603" y="3846334"/>
            <a:ext cx="380139" cy="93898"/>
          </a:xfrm>
          <a:prstGeom prst="rect">
            <a:avLst/>
          </a:prstGeom>
        </p:spPr>
      </p:pic>
      <p:pic>
        <p:nvPicPr>
          <p:cNvPr id="52" name="Imagem 51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7B35D49C-0FE4-8BA0-02C4-87CDCD3EA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993" y="3846334"/>
            <a:ext cx="380136" cy="93898"/>
          </a:xfrm>
          <a:prstGeom prst="rect">
            <a:avLst/>
          </a:prstGeom>
        </p:spPr>
      </p:pic>
      <p:sp>
        <p:nvSpPr>
          <p:cNvPr id="53" name="Retângulo 52">
            <a:extLst>
              <a:ext uri="{FF2B5EF4-FFF2-40B4-BE49-F238E27FC236}">
                <a16:creationId xmlns:a16="http://schemas.microsoft.com/office/drawing/2014/main" id="{0A8FC4A4-A0D0-0B2B-9E14-9A9A48849F5F}"/>
              </a:ext>
            </a:extLst>
          </p:cNvPr>
          <p:cNvSpPr/>
          <p:nvPr/>
        </p:nvSpPr>
        <p:spPr>
          <a:xfrm>
            <a:off x="2444485" y="1418260"/>
            <a:ext cx="1409924" cy="751362"/>
          </a:xfrm>
          <a:prstGeom prst="rect">
            <a:avLst/>
          </a:prstGeom>
          <a:solidFill>
            <a:srgbClr val="F5F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4" name="Imagem 53" descr="Uma imagem contendo Ícone&#10;&#10;Descrição gerada automaticamente">
            <a:extLst>
              <a:ext uri="{FF2B5EF4-FFF2-40B4-BE49-F238E27FC236}">
                <a16:creationId xmlns:a16="http://schemas.microsoft.com/office/drawing/2014/main" id="{1B81F446-3149-E672-EC82-A19C1F807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652" y="1650611"/>
            <a:ext cx="1071726" cy="2647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AEEF">
              <a:alpha val="10000"/>
            </a:srgbClr>
          </a:solidFill>
          <a:ln w="12700">
            <a:solidFill>
              <a:srgbClr val="00AEE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62460"/>
          </a:solidFill>
          <a:ln w="12700">
            <a:solidFill>
              <a:srgbClr val="1624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0" y="3096269"/>
            <a:ext cx="2743200" cy="36576"/>
          </a:xfrm>
          <a:prstGeom prst="rect">
            <a:avLst/>
          </a:prstGeom>
          <a:solidFill>
            <a:srgbClr val="00AEEF">
              <a:alpha val="60000"/>
            </a:srgbClr>
          </a:solidFill>
          <a:ln w="12700">
            <a:solidFill>
              <a:srgbClr val="00AE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71600" y="3324869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cada processo.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prumaia.com.br</a:t>
            </a:r>
            <a:endParaRPr lang="en-US" sz="1100" dirty="0"/>
          </a:p>
        </p:txBody>
      </p:sp>
      <p:pic>
        <p:nvPicPr>
          <p:cNvPr id="10" name="Imagem 9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0D360854-F7F9-8953-7E5A-D2F521524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036" y="1653566"/>
            <a:ext cx="4634115" cy="11446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514</Words>
  <Application>Microsoft Macintosh PowerPoint</Application>
  <PresentationFormat>Apresentação na tela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Pruma IA — Brandbook</dc:title>
  <dc:subject>PptxGenJS Presentation</dc:subject>
  <dc:creator>PptxGenJS</dc:creator>
  <cp:lastModifiedBy>Kelly Lima</cp:lastModifiedBy>
  <cp:revision>3</cp:revision>
  <dcterms:created xsi:type="dcterms:W3CDTF">2026-04-18T20:32:13Z</dcterms:created>
  <dcterms:modified xsi:type="dcterms:W3CDTF">2026-04-18T21:02:12Z</dcterms:modified>
</cp:coreProperties>
</file>